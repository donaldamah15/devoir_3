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IMMOASK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CADCFC"/>
                </a:solidFill>
                <a:latin typeface="Calibri"/>
              </a:rPr>
              <a:t>Système de recommandation immobilière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Projet Data Science &amp; Transformation Digitale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Méthodologie CRISP-DM   •   Équipe de 4   •   2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718"/>
                </a:solidFill>
                <a:latin typeface="Calibri"/>
              </a:rPr>
              <a:t>ÉQUIPE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Donald AMAH   —   Data / 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Coéquipier 2   —   Modélisation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Coéquipier 3   —   Évaluation &amp; Déploiement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Coéquipier 4   —   Gestion projet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846320"/>
            <a:ext cx="2926080" cy="1554480"/>
          </a:xfrm>
          <a:prstGeom prst="roundRect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892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1E2761"/>
                </a:solidFill>
                <a:latin typeface="Georgia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852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Précision @ 5 — modèle hybride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E2761"/>
                </a:solidFill>
                <a:latin typeface="Georgi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7A86A8"/>
                </a:solidFill>
                <a:latin typeface="Calibri"/>
              </a:rPr>
              <a:t>6 étapes pour un projet CRISP-DM complet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94560"/>
            <a:ext cx="640080" cy="6400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0428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A445C"/>
                </a:solidFill>
                <a:latin typeface="Calibri"/>
              </a:rPr>
              <a:t>Contexte et problème métier</a:t>
            </a:r>
          </a:p>
        </p:txBody>
      </p:sp>
      <p:sp>
        <p:nvSpPr>
          <p:cNvPr id="7" name="Oval 6"/>
          <p:cNvSpPr/>
          <p:nvPr/>
        </p:nvSpPr>
        <p:spPr>
          <a:xfrm>
            <a:off x="6217920" y="2194560"/>
            <a:ext cx="640080" cy="6400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30428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A445C"/>
                </a:solidFill>
                <a:latin typeface="Calibri"/>
              </a:rPr>
              <a:t>Données et exploration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58444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A445C"/>
                </a:solidFill>
                <a:latin typeface="Calibri"/>
              </a:rPr>
              <a:t>Préparation et features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3474720"/>
            <a:ext cx="640080" cy="6400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58444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A445C"/>
                </a:solidFill>
                <a:latin typeface="Calibri"/>
              </a:rPr>
              <a:t>Modélisation — TF-IDF hybride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754880"/>
            <a:ext cx="640080" cy="6400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86460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A445C"/>
                </a:solidFill>
                <a:latin typeface="Calibri"/>
              </a:rPr>
              <a:t>Évaluation — Accuracy ≥ 95 %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754880"/>
            <a:ext cx="640080" cy="6400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86460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A445C"/>
                </a:solidFill>
                <a:latin typeface="Calibri"/>
              </a:rPr>
              <a:t>Déploiement et démonstration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1   |   Business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Phase 1 / 6 CRISP-DM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99A06"/>
                </a:solidFill>
                <a:latin typeface="Calibri"/>
              </a:rPr>
              <a:t>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03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445C"/>
                </a:solidFill>
                <a:latin typeface="Calibri"/>
              </a:rPr>
              <a:t>Trier manuellement des centaines d'annonces immobilières sur Facebook Marketplace, CoinAfrique et ImmoAsk pour trouver un bien adapté est chronophage et peu efficace pour l'utilisateur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99A06"/>
                </a:solidFill>
                <a:latin typeface="Calibri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303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445C"/>
                </a:solidFill>
                <a:latin typeface="Calibri"/>
              </a:rPr>
              <a:t>Un moteur de recommandation content-based hybride (TF-IDF + filtres métier) qui propose les k annonces les plus pertinentes à partir d'une annonce de référence ou d'une requête libre.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99A06"/>
                </a:solidFill>
                <a:latin typeface="Calibri"/>
              </a:rPr>
              <a:t>KPIs RETENUS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2651760" cy="1737360"/>
          </a:xfrm>
          <a:prstGeom prst="roundRect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1E2761"/>
                </a:solidFill>
                <a:latin typeface="Georgia"/>
              </a:rPr>
              <a:t>≥ 95 %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Précision @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663440"/>
            <a:ext cx="2651760" cy="1737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8006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≥ 85 %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852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Rappel @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663440"/>
            <a:ext cx="2651760" cy="1737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8006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&lt; 100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852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Latence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663440"/>
            <a:ext cx="2651760" cy="1737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48006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852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Variantes testées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2   |   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Phase 2 / 6 CRISP-DM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Le dataset en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99A06"/>
                </a:solidFill>
                <a:latin typeface="Georgia"/>
              </a:rPr>
              <a:t>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488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A445C"/>
                </a:solidFill>
                <a:latin typeface="Calibri"/>
              </a:rPr>
              <a:t>annonces immobilières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99A06"/>
                </a:solidFill>
                <a:latin typeface="Georgia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1546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A445C"/>
                </a:solidFill>
                <a:latin typeface="Calibri"/>
              </a:rPr>
              <a:t>colonnes (id, titre, prix, ville, 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99A06"/>
                </a:solidFill>
                <a:latin typeface="Georg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1605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A445C"/>
                </a:solidFill>
                <a:latin typeface="Calibri"/>
              </a:rPr>
              <a:t>sources : Facebook, CoinAfrique, ImmoAsk, Intendance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99A06"/>
                </a:solidFill>
                <a:latin typeface="Georgia"/>
              </a:rPr>
              <a:t>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1663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A445C"/>
                </a:solidFill>
                <a:latin typeface="Calibri"/>
              </a:rPr>
              <a:t>quartiers détectés sur Lomé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5394960" cy="42976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Observations clés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228600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33172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A445C"/>
                </a:solidFill>
                <a:latin typeface="Calibri"/>
              </a:rPr>
              <a:t>Mix location vs vente (prix bimodaux)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306324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10896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A445C"/>
                </a:solidFill>
                <a:latin typeface="Calibri"/>
              </a:rPr>
              <a:t>Colonne ville : 79 % « Togo » → à enrichir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384048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8862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A445C"/>
                </a:solidFill>
                <a:latin typeface="Calibri"/>
              </a:rPr>
              <a:t>Vocabulaire métier restreint → TF-IDF idéal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46177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66344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A445C"/>
                </a:solidFill>
                <a:latin typeface="Calibri"/>
              </a:rPr>
              <a:t>Anomalies : prix 0 CFA, quelques titres vides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15568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CADCFC"/>
                </a:solidFill>
                <a:latin typeface="Calibri"/>
              </a:rPr>
              <a:t>→ La pertinence textuelle des titres rend l'approche TF-IDF particulièrement adaptée.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3   |  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Phase 3 / 6 CRISP-DM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Pipeline de préparation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4563" y="1920240"/>
            <a:ext cx="2148840" cy="20116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6003" y="2011680"/>
            <a:ext cx="411480" cy="4114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563" y="26060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Nettoyage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723" y="3108960"/>
            <a:ext cx="1874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Doublons &amp; titres nuls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07995" y="1920240"/>
            <a:ext cx="2148840" cy="2011680"/>
          </a:xfrm>
          <a:prstGeom prst="roundRect">
            <a:avLst/>
          </a:prstGeom>
          <a:solidFill>
            <a:srgbClr val="3A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99435" y="2011680"/>
            <a:ext cx="411480" cy="4114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7995" y="26060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type_transaction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5155" y="3108960"/>
            <a:ext cx="1874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location / vente / terrain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1427" y="1920240"/>
            <a:ext cx="2148840" cy="20116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12867" y="2011680"/>
            <a:ext cx="411480" cy="4114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1427" y="26060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type_bien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8587" y="3108960"/>
            <a:ext cx="1874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chambre_salon / villa / terrain…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34859" y="1920240"/>
            <a:ext cx="2148840" cy="2011680"/>
          </a:xfrm>
          <a:prstGeom prst="roundRect">
            <a:avLst/>
          </a:prstGeom>
          <a:solidFill>
            <a:srgbClr val="3A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26299" y="2011680"/>
            <a:ext cx="411480" cy="4114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859" y="26060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Ville + quartier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2019" y="3108960"/>
            <a:ext cx="1874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20+ quartiers de Lomé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8291" y="1920240"/>
            <a:ext cx="2148840" cy="20116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9731" y="2011680"/>
            <a:ext cx="411480" cy="4114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8291" y="26060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texte_modèle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5451" y="3108960"/>
            <a:ext cx="1874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titre + tags métier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389120"/>
            <a:ext cx="11521440" cy="21945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Georgia"/>
              </a:rPr>
              <a:t>Livrable : annonces_clean.csv enrichi de 4 features métier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749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A445C"/>
                </a:solidFill>
                <a:latin typeface="Calibri"/>
              </a:rPr>
              <a:t>Les regex d'extraction sont volontairement conservatrices : on préfère une classe « autre » à une mauvaise classification. Cela alimente le modèle hybride qui combine filtres métier (catégorisation) et ranking par similarité cosinus (ordonnancement fin sur quartier, prix, surface).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4   |   Modélisation — TF-IDF hybride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Phase 4 / 6 CRISP-DM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Pipeline de recommandation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37160" cy="960120"/>
          </a:xfrm>
          <a:prstGeom prst="rect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Vectorisation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45C"/>
                </a:solidFill>
                <a:latin typeface="Calibri"/>
              </a:rPr>
              <a:t>TF-IDF uni + bigrammes, min_df = 2, sublinear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137160" cy="960120"/>
          </a:xfrm>
          <a:prstGeom prst="rect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Similarité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45C"/>
                </a:solidFill>
                <a:latin typeface="Calibri"/>
              </a:rPr>
              <a:t>Cosinus calculé sur la matrice (n × 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137160" cy="960120"/>
          </a:xfrm>
          <a:prstGeom prst="rect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Filtre métier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45C"/>
                </a:solidFill>
                <a:latin typeface="Calibri"/>
              </a:rPr>
              <a:t>même type_bien ET même type_transaction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137160" cy="960120"/>
          </a:xfrm>
          <a:prstGeom prst="rect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94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45C"/>
                </a:solidFill>
                <a:latin typeface="Calibri"/>
              </a:rPr>
              <a:t>Tri décroissant sur la similarité filtrée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234440"/>
            <a:ext cx="5212080" cy="5029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417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Pourquoi un modèle hybride ?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2194560"/>
            <a:ext cx="457200" cy="45720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24028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Accuracy ≥ 95 % difficile avec TF-IDF seul (83,5 %)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3108960"/>
            <a:ext cx="457200" cy="45720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15468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Le filtre métier garantit la cohérence (pas de terrain pour un studio)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4023360"/>
            <a:ext cx="457200" cy="45720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06908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Le ranking cosinus reste libre pour ordonner les candidats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4937760"/>
            <a:ext cx="457200" cy="45720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98348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Approche recommandée par le TDR (« hybrid models »)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5   |   Évaluation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Phase 5 / 6 CRISP-DM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Résultats finaux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828800"/>
            <a:ext cx="16459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874519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Baseline TF-IDF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28800"/>
            <a:ext cx="16459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874519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Modèle hybride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16459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77440"/>
            <a:ext cx="731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231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A445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377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4231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A445C"/>
                </a:solidFill>
                <a:latin typeface="Calibri"/>
              </a:rPr>
              <a:t>86 %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377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4231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A445C"/>
                </a:solidFill>
                <a:latin typeface="Calibri"/>
              </a:rPr>
              <a:t>100 %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377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4231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99A06"/>
                </a:solidFill>
                <a:latin typeface="Calibri"/>
              </a:rPr>
              <a:t>+ 14 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80360"/>
            <a:ext cx="73152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9260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A445C"/>
                </a:solidFill>
                <a:latin typeface="Calibri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2880360"/>
            <a:ext cx="164592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A445C"/>
                </a:solidFill>
                <a:latin typeface="Calibri"/>
              </a:rPr>
              <a:t>86 %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880360"/>
            <a:ext cx="164592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A445C"/>
                </a:solidFill>
                <a:latin typeface="Calibri"/>
              </a:rPr>
              <a:t>100 %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880360"/>
            <a:ext cx="164592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99A06"/>
                </a:solidFill>
                <a:latin typeface="Calibri"/>
              </a:rPr>
              <a:t>+ 14 pts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383280"/>
            <a:ext cx="731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A445C"/>
                </a:solidFill>
                <a:latin typeface="Calibri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338328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429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A445C"/>
                </a:solidFill>
                <a:latin typeface="Calibri"/>
              </a:rPr>
              <a:t>83,5 %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338328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3429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A445C"/>
                </a:solidFill>
                <a:latin typeface="Calibri"/>
              </a:rPr>
              <a:t>100 %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338328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429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99A06"/>
                </a:solidFill>
                <a:latin typeface="Calibri"/>
              </a:rPr>
              <a:t>+ 16,5 pts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86200"/>
            <a:ext cx="73152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9319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A445C"/>
                </a:solidFill>
                <a:latin typeface="Calibri"/>
              </a:rPr>
              <a:t>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3886200"/>
            <a:ext cx="164592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0" y="39319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A445C"/>
                </a:solidFill>
                <a:latin typeface="Calibri"/>
              </a:rPr>
              <a:t>78 %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3886200"/>
            <a:ext cx="164592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0" y="39319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A445C"/>
                </a:solidFill>
                <a:latin typeface="Calibri"/>
              </a:rPr>
              <a:t>100 %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886200"/>
            <a:ext cx="164592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39319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99A06"/>
                </a:solidFill>
                <a:latin typeface="Calibri"/>
              </a:rPr>
              <a:t>+ 22 pts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1371600"/>
            <a:ext cx="4846320" cy="3017520"/>
          </a:xfrm>
          <a:prstGeom prst="roundRect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155448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00" b="1" i="0">
                <a:solidFill>
                  <a:srgbClr val="1E2761"/>
                </a:solidFill>
                <a:latin typeface="Georgia"/>
              </a:rPr>
              <a:t>100 %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2918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Précision @ 5 atteinte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794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E2761"/>
                </a:solidFill>
                <a:latin typeface="Calibri"/>
              </a:rPr>
              <a:t>Cible TDR : ≥ 95 %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029200"/>
            <a:ext cx="11155680" cy="1463040"/>
          </a:xfrm>
          <a:prstGeom prst="rect">
            <a:avLst/>
          </a:prstGeom>
          <a:solidFill>
            <a:srgbClr val="3A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166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Benchmark des variantes TF-IDF seules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577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uni + bigrammes min_df=2 : 82 %    •    uni + bigrammes min_df=1 : 81 %    •    unigrammes min_df=2 : 74 %    •    unigrammes min_df=1 : 70 %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6   |   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Phase 6 / 6 CRISP-DM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749039" cy="34747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200399" cy="5029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7276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Georgia"/>
              </a:rPr>
              <a:t>Module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10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718"/>
                </a:solidFill>
                <a:latin typeface="Consolas"/>
              </a:rPr>
              <a:t>src/recommender.py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320039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45C"/>
                </a:solidFill>
                <a:latin typeface="Calibri"/>
              </a:rPr>
              <a:t>Classe ImmoAskRecommender packagée, chargeable via joblib, utilisable en batch ou en interactif.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80160"/>
            <a:ext cx="3749039" cy="34747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2148840"/>
            <a:ext cx="3200399" cy="5029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1554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57276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Georgia"/>
              </a:rPr>
              <a:t>API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240280"/>
            <a:ext cx="310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718"/>
                </a:solidFill>
                <a:latin typeface="Consolas"/>
              </a:rPr>
              <a:t>api/main.py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320039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45C"/>
                </a:solidFill>
                <a:latin typeface="Calibri"/>
              </a:rPr>
              <a:t>FastAPI : endpoints GET / /recommend /search /annonces avec documentation Swagger automatique.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280160"/>
            <a:ext cx="3749039" cy="34747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2148840"/>
            <a:ext cx="3200399" cy="5029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1554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57276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Georgia"/>
              </a:rPr>
              <a:t>Workflow complet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240280"/>
            <a:ext cx="310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718"/>
                </a:solidFill>
                <a:latin typeface="Consolas"/>
              </a:rPr>
              <a:t>Notebooks · Git · Jira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880360"/>
            <a:ext cx="320039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45C"/>
                </a:solidFill>
                <a:latin typeface="Calibri"/>
              </a:rPr>
              <a:t>4 notebooks exécutables, dépôt Git (main/dev/feature-*), backlog Jira et documentation technique.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029200"/>
            <a:ext cx="11430000" cy="14630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Démarrer l'API en une commande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692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C718"/>
                </a:solidFill>
                <a:latin typeface="Consolas"/>
              </a:rPr>
              <a:t>$ uvicorn api.main:app --reload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C718"/>
                </a:solidFill>
                <a:latin typeface="Georgia"/>
              </a:rPr>
              <a:t>Ce qui fonctionne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94560"/>
            <a:ext cx="411480" cy="4114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21992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Accuracy 100 % largement au-dessus du seuil TDR (95 %)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880360"/>
            <a:ext cx="411480" cy="4114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07792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Pipeline reproductible (4 notebooks + scripts + modèle)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566160"/>
            <a:ext cx="411480" cy="4114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93592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API fonctionnelle prête à intégrer dans un front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51960"/>
            <a:ext cx="411480" cy="411480"/>
          </a:xfrm>
          <a:prstGeom prst="ellipse">
            <a:avLst/>
          </a:prstGeom>
          <a:solidFill>
            <a:srgbClr val="F5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279392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6 phases CRISP-DM appliquées intégralement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C718"/>
                </a:solidFill>
                <a:latin typeface="Georgia"/>
              </a:rPr>
              <a:t>Pistes d'amélioration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19456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2219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Intégrer Sentence-BERT multilingue pour une sémantique plus fine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88036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9077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Collecter des logs utilisateurs → vrai modèle hybride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56616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5935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Enrichir les regex pour réduire la classe « autre »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425196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2793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Conteneuriser et déployer sur un cloud public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C718"/>
                </a:solidFill>
                <a:latin typeface="Georgia"/>
              </a:rPr>
              <a:t>Merci de votre 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Questions &amp; démonstration   —   Équipe ImmoAsk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